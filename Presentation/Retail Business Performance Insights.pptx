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Lagos</c:v>
                </c:pt>
                <c:pt idx="1">
                  <c:v>Abuja</c:v>
                </c:pt>
                <c:pt idx="2">
                  <c:v>Port Harcourt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</c:v>
                </c:pt>
                <c:pt idx="1">
                  <c:v>30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53-453C-9BBE-280DBE35A9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($M)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Lagos</c:v>
                </c:pt>
                <c:pt idx="1">
                  <c:v>Abuja</c:v>
                </c:pt>
                <c:pt idx="2">
                  <c:v>Port Harcourt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53-453C-9BBE-280DBE35A9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F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9E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F6B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B6F6B"/>
                    </a:solidFill>
                    <a:latin typeface="Arial"/>
                  </a:rPr>
                  <a:t>USD (Millions)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F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2B2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Satisfaction (out of 5)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Port Harcourt</c:v>
                </c:pt>
                <c:pt idx="1">
                  <c:v>Abuja</c:v>
                </c:pt>
                <c:pt idx="2">
                  <c:v>Lagos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3.27</c:v>
                </c:pt>
                <c:pt idx="1">
                  <c:v>3.25</c:v>
                </c:pt>
                <c:pt idx="2">
                  <c:v>2.35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88-410E-8FAB-2CBDCB8E2D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F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b"/>
        <c:majorGridlines>
          <c:spPr>
            <a:ln w="9525" cap="flat">
              <a:solidFill>
                <a:srgbClr val="E5E9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F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Delivery Days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Lagos</c:v>
                </c:pt>
                <c:pt idx="1">
                  <c:v>Port Harcourt</c:v>
                </c:pt>
                <c:pt idx="2">
                  <c:v>Abuja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4.91</c:v>
                </c:pt>
                <c:pt idx="1">
                  <c:v>2.91</c:v>
                </c:pt>
                <c:pt idx="2">
                  <c:v>2.38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3A-47CB-B11E-E1AA4AE075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F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9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F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Complaints</c:v>
                </c:pt>
              </c:strCache>
            </c:strRef>
          </c:tx>
          <c:spPr>
            <a:solidFill>
              <a:srgbClr val="C97A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Lagos</c:v>
                </c:pt>
                <c:pt idx="1">
                  <c:v>Port Harcourt</c:v>
                </c:pt>
                <c:pt idx="2">
                  <c:v>Abuja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</c:v>
                </c:pt>
                <c:pt idx="1">
                  <c:v>11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71-4E86-ABF5-073D02D2DF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F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9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F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Stock Out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7BC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0B4-4AB9-990B-3CCDDDC15ADD}"/>
              </c:ext>
            </c:extLst>
          </c:dPt>
          <c:dPt>
            <c:idx val="1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0B4-4AB9-990B-3CCDDDC15AD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2B2B2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0B4-4AB9-990B-3CCDDDC15AD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2B2B2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0B4-4AB9-990B-3CCDDDC15AD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Stock-Out: Yes</c:v>
                </c:pt>
                <c:pt idx="1">
                  <c:v>Stock-Out: 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</c:v>
                </c:pt>
                <c:pt idx="1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0B4-4AB9-990B-3CCDDDC15A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2B2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Satisfaction Rating</c:v>
                </c:pt>
              </c:strCache>
            </c:strRef>
          </c:tx>
          <c:spPr>
            <a:ln w="38100" cap="flat">
              <a:solidFill>
                <a:srgbClr val="2C5F2D"/>
              </a:solidFill>
              <a:prstDash val="solid"/>
              <a:round/>
            </a:ln>
            <a:effectLst/>
          </c:spPr>
          <c:marker>
            <c:symbol val="circle"/>
            <c:size val="12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1 - 2 Days</c:v>
                </c:pt>
                <c:pt idx="1">
                  <c:v>3 - 4 Days</c:v>
                </c:pt>
                <c:pt idx="2">
                  <c:v>5+ Days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4.7</c:v>
                </c:pt>
                <c:pt idx="1">
                  <c:v>3.7</c:v>
                </c:pt>
                <c:pt idx="2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204-4093-A9CD-D62032B5043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F6B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B6F6B"/>
                    </a:solidFill>
                    <a:latin typeface="Arial"/>
                  </a:rPr>
                  <a:t>Delivery Time Bracket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F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2.5"/>
        </c:scaling>
        <c:delete val="0"/>
        <c:axPos val="l"/>
        <c:majorGridlines>
          <c:spPr>
            <a:ln w="9525" cap="flat">
              <a:solidFill>
                <a:srgbClr val="E5E9E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F6B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B6F6B"/>
                    </a:solidFill>
                    <a:latin typeface="Arial"/>
                  </a:rPr>
                  <a:t>Avg. Satisfaction Rating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F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6909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4572000"/>
            <a:ext cx="3657600" cy="3657600"/>
          </a:xfrm>
          <a:prstGeom prst="ellipse">
            <a:avLst/>
          </a:prstGeom>
          <a:solidFill>
            <a:srgbClr val="97BC62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D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PERFORMANCE DASHBOARD INSIGHTS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Business Performance &amp;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Satisfaction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D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descriptive breakdown of branch performance across revenue, profit, delivery, and customer satisfaction in Lagos, Abuja, and Port Harcourt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52120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534283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5285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Branch Performance Dashboard   |   Customer Type: All   |   Branch: All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branches, the business generated $90M in revenue but converted only $16M to profit (a ~17.8% margin). Customer satisfaction averages 3.87 out of 5, while average delivery time sits at 3.44 days — both figures vary widely by branch.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F2F7EE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31620" y="25603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041" y="27267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383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$90M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85800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4434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across 3 branches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29000" y="224028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F2F7EE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11980" y="25603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401" y="272674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3383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$16M</a:t>
            </a:r>
            <a:endParaRPr lang="en-US" sz="2500" dirty="0"/>
          </a:p>
        </p:txBody>
      </p:sp>
      <p:sp>
        <p:nvSpPr>
          <p:cNvPr id="15" name="Text 11"/>
          <p:cNvSpPr/>
          <p:nvPr/>
        </p:nvSpPr>
        <p:spPr>
          <a:xfrm>
            <a:off x="3566160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611880" y="4434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~17.8% overall margin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309360" y="224028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F2F7EE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292340" y="2560320"/>
            <a:ext cx="640080" cy="640080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8761" y="272674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46520" y="3383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3.87 / 5</a:t>
            </a:r>
            <a:endParaRPr lang="en-US" sz="2500" dirty="0"/>
          </a:p>
        </p:txBody>
      </p:sp>
      <p:sp>
        <p:nvSpPr>
          <p:cNvPr id="21" name="Text 16"/>
          <p:cNvSpPr/>
          <p:nvPr/>
        </p:nvSpPr>
        <p:spPr>
          <a:xfrm>
            <a:off x="6446520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Satisfaction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92240" y="4434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down by Lagos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189720" y="224028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F2F7EE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10172700" y="2560320"/>
            <a:ext cx="640080" cy="640080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9121" y="2726741"/>
            <a:ext cx="307238" cy="30723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26880" y="3383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3.44 days</a:t>
            </a:r>
            <a:endParaRPr lang="en-US" sz="2500" dirty="0"/>
          </a:p>
        </p:txBody>
      </p:sp>
      <p:sp>
        <p:nvSpPr>
          <p:cNvPr id="27" name="Text 21"/>
          <p:cNvSpPr/>
          <p:nvPr/>
        </p:nvSpPr>
        <p:spPr>
          <a:xfrm>
            <a:off x="9326880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Delivery Days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372600" y="4434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slowest at 4.91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 Performance and Customer Satisfaction Analysis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Profit by Branch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41732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F2F7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589520" y="1691640"/>
            <a:ext cx="457200" cy="457200"/>
          </a:xfrm>
          <a:prstGeom prst="ellipse">
            <a:avLst/>
          </a:prstGeom>
          <a:solidFill>
            <a:srgbClr val="F3DDC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2" y="18105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8388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635240" y="2286000"/>
            <a:ext cx="36576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generates the most revenue ($36M) but the weakest profit margin — only ~11%, versus ~23% in Abuja and ~21% in Port Harcourt.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Abuja is the most efficient branch: $30M in revenue converts to $7M profit, the highest absolute profit of any branch.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Harcourt delivers a solid mid-tier margin (~21%) on the smallest revenue base, suggesting healthy cost control.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 Lagos is not translating into profitability — operating costs there deserve a closer look.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 Performance and Customer Satisfaction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Satisfaction Rate by Branch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41732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F2F7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589520" y="1691640"/>
            <a:ext cx="457200" cy="457200"/>
          </a:xfrm>
          <a:prstGeom prst="ellipse">
            <a:avLst/>
          </a:prstGeom>
          <a:solidFill>
            <a:srgbClr val="F3DDC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2" y="18105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8388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635240" y="2286000"/>
            <a:ext cx="36576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Harcourt (3.27) and Abuja (3.25) post nearly identical, healthy satisfaction scores.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trails noticeably at 2.35 — almost a full point below the other branches, and the main reason the company-wide average sits at 3.87 rather than higher.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mirrors Lagos's weak profit margin, suggesting service-quality issues may be linked to the branch's underlying operations, not just pricing.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 Performance and Customer Satisfaction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Delivery Days by Branch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41732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F2F7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589520" y="1691640"/>
            <a:ext cx="457200" cy="457200"/>
          </a:xfrm>
          <a:prstGeom prst="ellipse">
            <a:avLst/>
          </a:prstGeom>
          <a:solidFill>
            <a:srgbClr val="F3DDC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2" y="18105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8388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635240" y="2286000"/>
            <a:ext cx="36576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takes 4.91 days on average to deliver — more than double Abuja's 2.38 days.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Harcourt (2.91 days) and Abuja (2.38 days) both deliver well within a 3-day window.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Lagos's slow fulfillment lines up directly with its lower satisfaction score and higher complaint volume, pointing to logistics as a likely root cause.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 Performance and Customer Satisfaction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ISSUES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 Patterns: By Branch &amp; By Cause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by Branch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691640"/>
          <a:ext cx="5577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325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by Stock-Out Status</a:t>
            </a:r>
            <a:endParaRPr lang="en-US" sz="14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263640" y="1691640"/>
          <a:ext cx="5394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6263640" y="50292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2F7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492240" y="5120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all complaints (57 of 76) trace back to stock-out events — making inventory availability the single biggest driver of customer dissatisfaction.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 Performance and Customer Satisfaction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Speed vs. Satisfaction Rating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41732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F2F7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589520" y="1691640"/>
            <a:ext cx="457200" cy="457200"/>
          </a:xfrm>
          <a:prstGeom prst="ellipse">
            <a:avLst/>
          </a:prstGeom>
          <a:solidFill>
            <a:srgbClr val="F3DDC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2" y="18105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8388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635240" y="2286000"/>
            <a:ext cx="36576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clear inverse relationship between delivery time and satisfaction: ratings fall from about 4.7 (1-2 days) to roughly 3.0 (5+ days).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delivered in 1-2 days are rated nearly a full point and a half higher than those taking 5+ days.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Lagos has both the slowest average delivery (4.91 days) and lowest satisfaction (2.35), faster fulfillment is likely the single highest-leverage fix available.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 Performance and Customer Satisfaction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4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389120"/>
            <a:ext cx="3657600" cy="3657600"/>
          </a:xfrm>
          <a:prstGeom prst="ellipse">
            <a:avLst/>
          </a:prstGeom>
          <a:solidFill>
            <a:srgbClr val="2C5F2D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SPOTLIGHT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Lagos: The Branch That Needs Attention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is the company's largest branch by revenue, but it underperforms on every customer-facing metric — a pattern consistent with delivery delays and stock-outs eroding the customer experience.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03020" y="2560320"/>
            <a:ext cx="502920" cy="502920"/>
          </a:xfrm>
          <a:prstGeom prst="ellipse">
            <a:avLst/>
          </a:prstGeom>
          <a:solidFill>
            <a:srgbClr val="C9DDA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779" y="269107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$36M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4008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58368" y="4096512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of all branches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66060" y="228600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520440" y="2560320"/>
            <a:ext cx="502920" cy="502920"/>
          </a:xfrm>
          <a:prstGeom prst="ellipse">
            <a:avLst/>
          </a:prstGeom>
          <a:solidFill>
            <a:srgbClr val="C9DDA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199" y="269107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5750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~11%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285750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2875788" y="4096512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of all branches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983480" y="228600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737860" y="2560320"/>
            <a:ext cx="502920" cy="502920"/>
          </a:xfrm>
          <a:prstGeom prst="ellipse">
            <a:avLst/>
          </a:prstGeom>
          <a:solidFill>
            <a:srgbClr val="C9DDA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619" y="2691079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7492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2.35 / 5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507492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5093208" y="4096512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of all branches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7200900" y="228600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955280" y="2560320"/>
            <a:ext cx="502920" cy="502920"/>
          </a:xfrm>
          <a:prstGeom prst="ellipse">
            <a:avLst/>
          </a:prstGeom>
          <a:solidFill>
            <a:srgbClr val="C9DDA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6039" y="2691079"/>
            <a:ext cx="241402" cy="24140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9234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4.91 days</a:t>
            </a:r>
            <a:endParaRPr lang="en-US" sz="1900" dirty="0"/>
          </a:p>
        </p:txBody>
      </p:sp>
      <p:sp>
        <p:nvSpPr>
          <p:cNvPr id="28" name="Text 22"/>
          <p:cNvSpPr/>
          <p:nvPr/>
        </p:nvSpPr>
        <p:spPr>
          <a:xfrm>
            <a:off x="729234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7310628" y="4096512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of all branches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9418320" y="228600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10172700" y="2560320"/>
            <a:ext cx="502920" cy="502920"/>
          </a:xfrm>
          <a:prstGeom prst="ellipse">
            <a:avLst/>
          </a:prstGeom>
          <a:solidFill>
            <a:srgbClr val="C9DDA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3459" y="2691079"/>
            <a:ext cx="241402" cy="24140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50976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1900" dirty="0"/>
          </a:p>
        </p:txBody>
      </p:sp>
      <p:sp>
        <p:nvSpPr>
          <p:cNvPr id="34" name="Text 27"/>
          <p:cNvSpPr/>
          <p:nvPr/>
        </p:nvSpPr>
        <p:spPr>
          <a:xfrm>
            <a:off x="950976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9528048" y="4096512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of all branches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 Performance and Customer Satisfaction Analysis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EE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916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Inventory Management in Lagos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Stock-outs drive 75% of all complaints. Improve demand forecasting and replenishment cycles in Lagos first, where complaint volume is highest.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EE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46520" y="173736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66" y="18800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6916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Delivery Times in Lagos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46520" y="23317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logistics gap that pushes Lagos delivery to 4.91 days versus ~2.4-2.9 days elsewhere; faster delivery is the clearest lever to lift satisfaction.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EE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41202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9319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Lagos Cost Structure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45720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highest revenue but lowest margin (~11%), audit operating costs in Lagos to identify what is eroding profitability relative to Abuja and Port Harcourt.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3703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EE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46520" y="397764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9166" y="412028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9319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Abuja &amp; Port Harcourt Practices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46520" y="45720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combine strong margins with satisfaction above 3.2 and delivery under 3 days — document and transfer their operating playbook to Lagos.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 Performance and Customer Satisfaction Analysis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4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97BC62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715000" y="210312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195" y="229331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01752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Lagos is the priority.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194560" y="3794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9D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stock-outs and delivery speed there offers the largest single opportunity to lift both profit margin and customer satisfaction company-wide.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 Performance and Customer Satisfaction Analysis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</TotalTime>
  <Words>849</Words>
  <Application>Microsoft Office PowerPoint</Application>
  <PresentationFormat>Widescreen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Business Performance and Customer Satisfaction Analysis</dc:title>
  <dc:subject>PptxGenJS Presentation</dc:subject>
  <dc:creator>Retail Analytics</dc:creator>
  <cp:lastModifiedBy>Adeyinka Adebowale</cp:lastModifiedBy>
  <cp:revision>1</cp:revision>
  <dcterms:created xsi:type="dcterms:W3CDTF">2026-06-30T19:23:18Z</dcterms:created>
  <dcterms:modified xsi:type="dcterms:W3CDTF">2026-07-01T08:55:52Z</dcterms:modified>
</cp:coreProperties>
</file>